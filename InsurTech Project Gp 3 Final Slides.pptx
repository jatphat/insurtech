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5"/>
  </p:notesMasterIdLst>
  <p:sldIdLst>
    <p:sldId id="268" r:id="rId3"/>
    <p:sldId id="257" r:id="rId4"/>
    <p:sldId id="258" r:id="rId5"/>
    <p:sldId id="269" r:id="rId6"/>
    <p:sldId id="259" r:id="rId7"/>
    <p:sldId id="271" r:id="rId8"/>
    <p:sldId id="261" r:id="rId9"/>
    <p:sldId id="281" r:id="rId10"/>
    <p:sldId id="276" r:id="rId11"/>
    <p:sldId id="277" r:id="rId12"/>
    <p:sldId id="262" r:id="rId13"/>
    <p:sldId id="28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5AEC30-B906-49CE-A5B0-DAEBEE91ADD6}" v="2" dt="2026-04-17T02:17:12.6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8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 T" userId="b2b7867999b66e4b" providerId="LiveId" clId="{6D25AF80-5FA6-4173-9FF7-0728A5B4DBEB}"/>
    <pc:docChg chg="modSld">
      <pc:chgData name="J T" userId="b2b7867999b66e4b" providerId="LiveId" clId="{6D25AF80-5FA6-4173-9FF7-0728A5B4DBEB}" dt="2026-04-17T02:16:42.389" v="0"/>
      <pc:docMkLst>
        <pc:docMk/>
      </pc:docMkLst>
      <pc:sldChg chg="modSp">
        <pc:chgData name="J T" userId="b2b7867999b66e4b" providerId="LiveId" clId="{6D25AF80-5FA6-4173-9FF7-0728A5B4DBEB}" dt="2026-04-17T02:16:42.389" v="0"/>
        <pc:sldMkLst>
          <pc:docMk/>
          <pc:sldMk cId="0" sldId="284"/>
        </pc:sldMkLst>
        <pc:spChg chg="mod">
          <ac:chgData name="J T" userId="b2b7867999b66e4b" providerId="LiveId" clId="{6D25AF80-5FA6-4173-9FF7-0728A5B4DBEB}" dt="2026-04-17T02:16:42.389" v="0"/>
          <ac:spMkLst>
            <pc:docMk/>
            <pc:sldMk cId="0" sldId="284"/>
            <ac:spMk id="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3B82F6"/>
              </a:solidFill>
            </c:spPr>
            <c:extLst>
              <c:ext xmlns:c16="http://schemas.microsoft.com/office/drawing/2014/chart" uri="{C3380CC4-5D6E-409C-BE32-E72D297353CC}">
                <c16:uniqueId val="{00000001-C8FC-4F62-91E7-33E16B656A69}"/>
              </c:ext>
            </c:extLst>
          </c:dPt>
          <c:dPt>
            <c:idx val="1"/>
            <c:bubble3D val="0"/>
            <c:spPr>
              <a:solidFill>
                <a:srgbClr val="059669"/>
              </a:solidFill>
            </c:spPr>
            <c:extLst>
              <c:ext xmlns:c16="http://schemas.microsoft.com/office/drawing/2014/chart" uri="{C3380CC4-5D6E-409C-BE32-E72D297353CC}">
                <c16:uniqueId val="{00000003-C8FC-4F62-91E7-33E16B656A69}"/>
              </c:ext>
            </c:extLst>
          </c:dPt>
          <c:dPt>
            <c:idx val="2"/>
            <c:bubble3D val="0"/>
            <c:spPr>
              <a:solidFill>
                <a:srgbClr val="EA580C"/>
              </a:solidFill>
            </c:spPr>
            <c:extLst>
              <c:ext xmlns:c16="http://schemas.microsoft.com/office/drawing/2014/chart" uri="{C3380CC4-5D6E-409C-BE32-E72D297353CC}">
                <c16:uniqueId val="{00000005-C8FC-4F62-91E7-33E16B656A69}"/>
              </c:ext>
            </c:extLst>
          </c:dPt>
          <c:cat>
            <c:strRef>
              <c:f>Sheet1!$A$2:$A$4</c:f>
              <c:strCache>
                <c:ptCount val="3"/>
                <c:pt idx="0">
                  <c:v>Licensing Fees</c:v>
                </c:pt>
                <c:pt idx="1">
                  <c:v>Transaction %</c:v>
                </c:pt>
                <c:pt idx="2">
                  <c:v>Consulting Services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25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8FC-4F62-91E7-33E16B656A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825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394039-5BB5-461E-AF26-AEC3F7177B31}" type="datetimeFigureOut">
              <a:rPr lang="en-US" smtClean="0"/>
              <a:t>Thu Apr-16 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66FB7B-BC54-45FA-AC5F-6A3A7631F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0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EB04C-ACC3-630E-D395-3B7BF12E4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C2D800-FD35-7C27-B2D2-DE43A5FAB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6EA66-FC81-3505-507A-E37AC5AFC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AF18-0CA3-4EE4-AC12-E0D8F9B29413}" type="datetimeFigureOut">
              <a:rPr lang="en-US" smtClean="0"/>
              <a:t>Thu Apr-16 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8B1D0-533A-E2DE-CD06-59575D920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DE3B-FB9C-35B1-F000-4CABE61B0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68EC-980E-431F-B5B1-8CC2503AC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13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F42DE-28E0-3890-6F68-62AEBA80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69619-90FC-BEB1-2FEE-93738ED78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94E5B-B5CC-0D7A-6382-24CE7E8A9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AF18-0CA3-4EE4-AC12-E0D8F9B29413}" type="datetimeFigureOut">
              <a:rPr lang="en-US" smtClean="0"/>
              <a:t>Thu Apr-16 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BBFE9-5247-0B25-067B-D10096CA0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E405A-D975-CCA5-26D9-64EBFC0CE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68EC-980E-431F-B5B1-8CC2503AC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55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66D7F-7FAA-430A-AF3B-AC9710F47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61834-2C39-41B2-6160-5AC19D896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E4E22-8222-2FEB-4051-3827F5313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AF18-0CA3-4EE4-AC12-E0D8F9B29413}" type="datetimeFigureOut">
              <a:rPr lang="en-US" smtClean="0"/>
              <a:t>Thu Apr-16 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B7A10-F0D8-177F-3D55-5180A0535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E61E7-ABFC-C6E3-16A2-0B32B04B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68EC-980E-431F-B5B1-8CC2503AC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154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52EC2-BB22-304B-4A75-E1179C4EC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37725-7ED5-69E5-A67B-2A5117511E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7F8B5-2FA8-24C0-91AA-29118FC98B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B9C44-ED80-8414-F927-0EFD2DC4C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AF18-0CA3-4EE4-AC12-E0D8F9B29413}" type="datetimeFigureOut">
              <a:rPr lang="en-US" smtClean="0"/>
              <a:t>Thu Apr-16 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3791F-B031-81C1-EA2A-2E55E7F77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E8E7D-E8C4-F865-C840-29C4786D4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68EC-980E-431F-B5B1-8CC2503AC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54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28083-0033-F89C-F6D2-BF1111AB2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B0636-3DA3-7416-DD7C-48AC306D2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BD24E-C2C3-4D67-7ABC-8126D3EA0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CA443E-EA47-8E2E-CF45-E19433B6CD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9EA3AA-FF96-4975-2C33-C7809FD267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44FF43-76C6-6AA1-7EEE-F043311C3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AF18-0CA3-4EE4-AC12-E0D8F9B29413}" type="datetimeFigureOut">
              <a:rPr lang="en-US" smtClean="0"/>
              <a:t>Thu Apr-16 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8AF43D-6446-E92E-C18E-79F66EBAC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F1A6B1-4D1A-2A97-A791-F30659A5F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68EC-980E-431F-B5B1-8CC2503AC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701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E74C8-46B6-99BE-C1B1-D445992BE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4E0459-02B4-8373-A7F3-BC2A4C88B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AF18-0CA3-4EE4-AC12-E0D8F9B29413}" type="datetimeFigureOut">
              <a:rPr lang="en-US" smtClean="0"/>
              <a:t>Thu Apr-16 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8DC6A8-699C-F6AC-7A7A-FD97CBC0E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5F4AFD-8D28-8688-D1A2-6C6C8303A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68EC-980E-431F-B5B1-8CC2503AC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227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DB514C-478C-FF0F-D7BA-D0F2D641E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AF18-0CA3-4EE4-AC12-E0D8F9B29413}" type="datetimeFigureOut">
              <a:rPr lang="en-US" smtClean="0"/>
              <a:t>Thu Apr-16 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FB2284-B13B-6A4B-8F64-194A183DA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97313-57E8-2E88-6112-0A9A6CCD0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68EC-980E-431F-B5B1-8CC2503AC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940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8CAC3-E70F-2082-68B6-9996AD4E3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E42A3-2808-7922-0C22-2E1F0F5D2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6A85A6-4B17-46BB-C32F-49F3B0245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54F98-BDFE-57F7-258B-060136C2C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AF18-0CA3-4EE4-AC12-E0D8F9B29413}" type="datetimeFigureOut">
              <a:rPr lang="en-US" smtClean="0"/>
              <a:t>Thu Apr-16 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36A2C6-BBEA-38B0-4D7B-80ACDA2EC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95A67-E982-EE25-3650-ED6ABD8AB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68EC-980E-431F-B5B1-8CC2503AC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152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BFB4D-519A-0EA4-C063-C8090E190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97847D-9089-AD15-6279-C73D1ED0F9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FF301-D1CD-7556-4F15-F1571192E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DB8AB-D189-FFE6-59FC-3768CBD22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AF18-0CA3-4EE4-AC12-E0D8F9B29413}" type="datetimeFigureOut">
              <a:rPr lang="en-US" smtClean="0"/>
              <a:t>Thu Apr-16 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6B216-3809-6B9B-4D45-DFBDFF9C6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04AB0-D5D0-8F32-C1E8-CB12914FA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68EC-980E-431F-B5B1-8CC2503AC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284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647A3-F0F1-78BB-1805-F46786114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B29E16-8FC8-F44A-4CD1-45B31CDA9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E89AA-76B9-F700-2269-1E8B9D20D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AF18-0CA3-4EE4-AC12-E0D8F9B29413}" type="datetimeFigureOut">
              <a:rPr lang="en-US" smtClean="0"/>
              <a:t>Thu Apr-16 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E67CC-08FF-C590-8A96-22BF36746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6F331-2EB2-507C-3231-8C1770168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68EC-980E-431F-B5B1-8CC2503AC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777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8C508B-A50F-5B07-7FFB-B08C4291F2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3D13E1-1DBD-4A72-4B29-9A13479C4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F2D4C-AEBE-8429-E520-8D2796C2B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AF18-0CA3-4EE4-AC12-E0D8F9B29413}" type="datetimeFigureOut">
              <a:rPr lang="en-US" smtClean="0"/>
              <a:t>Thu Apr-16 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B1636-4588-F78D-6719-29E734C03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093A6-B674-BCA9-81A0-01FC4C98A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68EC-980E-431F-B5B1-8CC2503AC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5254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5284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 Apr-16 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08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80A5BB-38EB-13D1-E716-74A361D78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B0EC4-F0E2-F1D3-FCA9-BF221EF70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5FB33-379D-C71B-A8F2-05D408705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4AF18-0CA3-4EE4-AC12-E0D8F9B29413}" type="datetimeFigureOut">
              <a:rPr lang="en-US" smtClean="0"/>
              <a:t>Thu Apr-16 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FE7CA-ABA8-2819-2180-86164BE2F6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35068-8121-9222-24BE-54D540599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A168EC-980E-431F-B5B1-8CC2503AC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10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1854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9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9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image" Target="../media/image8.png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9.png"/><Relationship Id="rId7" Type="http://schemas.openxmlformats.org/officeDocument/2006/relationships/image" Target="../media/image5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3" Type="http://schemas.openxmlformats.org/officeDocument/2006/relationships/image" Target="../media/image8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image" Target="../media/image64.png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chart" Target="../charts/chart1.xml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18" Type="http://schemas.openxmlformats.org/officeDocument/2006/relationships/image" Target="../media/image103.png"/><Relationship Id="rId3" Type="http://schemas.openxmlformats.org/officeDocument/2006/relationships/image" Target="../media/image88.png"/><Relationship Id="rId21" Type="http://schemas.openxmlformats.org/officeDocument/2006/relationships/image" Target="../media/image106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" Type="http://schemas.openxmlformats.org/officeDocument/2006/relationships/image" Target="../media/image8.png"/><Relationship Id="rId16" Type="http://schemas.openxmlformats.org/officeDocument/2006/relationships/image" Target="../media/image101.png"/><Relationship Id="rId20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5" Type="http://schemas.openxmlformats.org/officeDocument/2006/relationships/image" Target="../media/image100.png"/><Relationship Id="rId10" Type="http://schemas.openxmlformats.org/officeDocument/2006/relationships/image" Target="../media/image95.png"/><Relationship Id="rId19" Type="http://schemas.openxmlformats.org/officeDocument/2006/relationships/image" Target="../media/image104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Relationship Id="rId22" Type="http://schemas.openxmlformats.org/officeDocument/2006/relationships/image" Target="../media/image10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18" Type="http://schemas.openxmlformats.org/officeDocument/2006/relationships/image" Target="../media/image122.png"/><Relationship Id="rId26" Type="http://schemas.openxmlformats.org/officeDocument/2006/relationships/image" Target="../media/image130.png"/><Relationship Id="rId3" Type="http://schemas.openxmlformats.org/officeDocument/2006/relationships/image" Target="../media/image108.png"/><Relationship Id="rId21" Type="http://schemas.openxmlformats.org/officeDocument/2006/relationships/image" Target="../media/image125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17" Type="http://schemas.openxmlformats.org/officeDocument/2006/relationships/image" Target="../media/image121.png"/><Relationship Id="rId25" Type="http://schemas.openxmlformats.org/officeDocument/2006/relationships/image" Target="../media/image129.png"/><Relationship Id="rId2" Type="http://schemas.openxmlformats.org/officeDocument/2006/relationships/image" Target="../media/image8.png"/><Relationship Id="rId16" Type="http://schemas.openxmlformats.org/officeDocument/2006/relationships/image" Target="../media/image120.png"/><Relationship Id="rId20" Type="http://schemas.openxmlformats.org/officeDocument/2006/relationships/image" Target="../media/image124.png"/><Relationship Id="rId29" Type="http://schemas.openxmlformats.org/officeDocument/2006/relationships/image" Target="../media/image1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24" Type="http://schemas.openxmlformats.org/officeDocument/2006/relationships/image" Target="../media/image128.png"/><Relationship Id="rId5" Type="http://schemas.openxmlformats.org/officeDocument/2006/relationships/image" Target="../media/image9.png"/><Relationship Id="rId15" Type="http://schemas.openxmlformats.org/officeDocument/2006/relationships/image" Target="../media/image119.png"/><Relationship Id="rId23" Type="http://schemas.openxmlformats.org/officeDocument/2006/relationships/image" Target="../media/image127.png"/><Relationship Id="rId28" Type="http://schemas.openxmlformats.org/officeDocument/2006/relationships/image" Target="../media/image132.png"/><Relationship Id="rId10" Type="http://schemas.openxmlformats.org/officeDocument/2006/relationships/image" Target="../media/image114.png"/><Relationship Id="rId19" Type="http://schemas.openxmlformats.org/officeDocument/2006/relationships/image" Target="../media/image123.png"/><Relationship Id="rId31" Type="http://schemas.openxmlformats.org/officeDocument/2006/relationships/image" Target="../media/image135.png"/><Relationship Id="rId4" Type="http://schemas.openxmlformats.org/officeDocument/2006/relationships/image" Target="../media/image109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Relationship Id="rId22" Type="http://schemas.openxmlformats.org/officeDocument/2006/relationships/image" Target="../media/image126.png"/><Relationship Id="rId27" Type="http://schemas.openxmlformats.org/officeDocument/2006/relationships/image" Target="../media/image131.png"/><Relationship Id="rId30" Type="http://schemas.openxmlformats.org/officeDocument/2006/relationships/image" Target="../media/image1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jatphat.github.io/InsurTech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0" y="304800"/>
            <a:ext cx="1143000" cy="57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" y="152400"/>
            <a:ext cx="1905000" cy="1905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57200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5657850"/>
            <a:ext cx="8229600" cy="590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3837235"/>
            <a:ext cx="11277600" cy="98360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 dirty="0" err="1">
                <a:solidFill>
                  <a:srgbClr val="FFFFFF"/>
                </a:solidFill>
                <a:latin typeface="Inter"/>
              </a:rPr>
              <a:t>BioAge</a:t>
            </a:r>
            <a:r>
              <a:rPr sz="3359" b="1" i="0" dirty="0">
                <a:solidFill>
                  <a:srgbClr val="FFFFFF"/>
                </a:solidFill>
                <a:latin typeface="Inter"/>
              </a:rPr>
              <a:t> Life: Insurance That Rewards How You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5657850"/>
            <a:ext cx="10897884" cy="5905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1" dirty="0">
                <a:solidFill>
                  <a:srgbClr val="06B6D4"/>
                </a:solidFill>
                <a:latin typeface="Inter"/>
              </a:rPr>
              <a:t>"What if your insurance premium dropped every time you made a healthy decision?"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9193" y="5061495"/>
            <a:ext cx="7078414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0" i="0" dirty="0">
                <a:solidFill>
                  <a:srgbClr val="FFFFFF">
                    <a:alpha val="95000"/>
                  </a:srgbClr>
                </a:solidFill>
                <a:latin typeface="Inter"/>
              </a:rPr>
              <a:t>The future of insurance is dynamic, personalized, and behavior-driven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250" y="4476750"/>
            <a:ext cx="1428750" cy="1428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9500" y="476250"/>
            <a:ext cx="1905000" cy="1905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1000" y="209550"/>
            <a:ext cx="8142684" cy="495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24" b="1" i="0">
                <a:solidFill>
                  <a:srgbClr val="3B82F6"/>
                </a:solidFill>
                <a:latin typeface="IBM Plex Sans"/>
              </a:rPr>
              <a:t>The Problem: Traditional Insurance is Broken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1600200"/>
            <a:ext cx="3562350" cy="3848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6975" y="2190750"/>
            <a:ext cx="609600" cy="609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8425" y="2333625"/>
            <a:ext cx="2667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7250" y="3429000"/>
            <a:ext cx="2857500" cy="6953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9050" y="1600200"/>
            <a:ext cx="3562350" cy="3848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15425" y="2190750"/>
            <a:ext cx="609600" cy="609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29725" y="2343150"/>
            <a:ext cx="3810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03635" y="2957066"/>
            <a:ext cx="2136278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E293B"/>
                </a:solidFill>
                <a:latin typeface="IBM Plex Sans"/>
              </a:rPr>
              <a:t>Alex, Marathon Runner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9087" y="3290441"/>
            <a:ext cx="1637764" cy="59590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64748B"/>
                </a:solidFill>
                <a:latin typeface="IBM Plex Sans"/>
              </a:rPr>
              <a:t>45 years old Excellent health metrics Active lifestyle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5806" y="4050952"/>
            <a:ext cx="731936" cy="4000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A580C"/>
                </a:solidFill>
                <a:latin typeface="IBM Plex Sans"/>
              </a:rPr>
              <a:t>$383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02656" y="4527202"/>
            <a:ext cx="1138088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64748B"/>
                </a:solidFill>
                <a:latin typeface="IBM Plex Sans"/>
              </a:rPr>
              <a:t>Monthly Premium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8916" y="2783383"/>
            <a:ext cx="474017" cy="495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B82F6"/>
                </a:solidFill>
                <a:latin typeface="IBM Plex Sans"/>
              </a:rPr>
              <a:t>VS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8547" y="3583483"/>
            <a:ext cx="2201584" cy="37296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E293B"/>
                </a:solidFill>
                <a:latin typeface="IBM Plex Sans"/>
              </a:rPr>
              <a:t>Chronological age pricing ignores actual health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59403" y="2957066"/>
            <a:ext cx="1721643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E293B"/>
                </a:solidFill>
                <a:latin typeface="IBM Plex Sans"/>
              </a:rPr>
              <a:t>Jordan, Sedentary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86366" y="3290441"/>
            <a:ext cx="1339959" cy="59590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64748B"/>
                </a:solidFill>
                <a:latin typeface="IBM Plex Sans"/>
              </a:rPr>
              <a:t>30 years old Poor health metrics Inactive lifestyle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4256" y="4050952"/>
            <a:ext cx="731936" cy="4000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59669"/>
                </a:solidFill>
                <a:latin typeface="IBM Plex Sans"/>
              </a:rPr>
              <a:t>$285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1106" y="4527202"/>
            <a:ext cx="1138088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64748B"/>
                </a:solidFill>
                <a:latin typeface="IBM Plex Sans"/>
              </a:rPr>
              <a:t>Monthly Premium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34361" y="759431"/>
            <a:ext cx="1933575" cy="8382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373825" y="924927"/>
            <a:ext cx="616148" cy="3048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B82F6"/>
                </a:solidFill>
                <a:latin typeface="IBM Plex Sans"/>
              </a:rPr>
              <a:t>$2.8T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3825" y="1267827"/>
            <a:ext cx="1455985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64748B"/>
                </a:solidFill>
                <a:latin typeface="IBM Plex Sans"/>
              </a:rPr>
              <a:t>US Life Insurance Market</a:t>
            </a:r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C9984F2C-3372-D6DA-66B5-8195EA51A0D4}"/>
              </a:ext>
            </a:extLst>
          </p:cNvPr>
          <p:cNvSpPr/>
          <p:nvPr/>
        </p:nvSpPr>
        <p:spPr>
          <a:xfrm>
            <a:off x="425299" y="5438113"/>
            <a:ext cx="11815267" cy="624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US" sz="2267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2267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45-year-old marathon runner</a:t>
            </a:r>
            <a:r>
              <a:rPr lang="en-US" sz="2267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pays MORE than a </a:t>
            </a:r>
            <a:r>
              <a:rPr lang="en-US" sz="2267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30-year-old sedentary smoker</a:t>
            </a:r>
            <a:endParaRPr lang="en-US" sz="2267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FA2E9667-7AB7-FAD3-E3A3-F393EC9282D4}"/>
              </a:ext>
            </a:extLst>
          </p:cNvPr>
          <p:cNvSpPr/>
          <p:nvPr/>
        </p:nvSpPr>
        <p:spPr>
          <a:xfrm>
            <a:off x="425299" y="6104863"/>
            <a:ext cx="9753361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67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Premiums are </a:t>
            </a:r>
            <a:r>
              <a:rPr lang="en-US" sz="2267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</a:t>
            </a:r>
            <a:r>
              <a:rPr lang="en-US" sz="2267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incentive to improve health</a:t>
            </a:r>
            <a:endParaRPr lang="en-US" sz="226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371600"/>
            <a:ext cx="1143000" cy="1143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000500"/>
            <a:ext cx="1143000" cy="1143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1000" y="209550"/>
            <a:ext cx="9823400" cy="495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24" b="1" i="0">
                <a:solidFill>
                  <a:srgbClr val="3B82F6"/>
                </a:solidFill>
                <a:latin typeface="IBM Plex Sans"/>
              </a:rPr>
              <a:t>Market Opportunity: The Longevity Economy Explosion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2057400"/>
            <a:ext cx="3609975" cy="35909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35360" y="2572047"/>
            <a:ext cx="1717030" cy="6858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059669"/>
                </a:solidFill>
                <a:latin typeface="IBM Plex Sans"/>
              </a:rPr>
              <a:t>400M+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6633" y="3257847"/>
            <a:ext cx="1354484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4748B"/>
                </a:solidFill>
                <a:latin typeface="IBM Plex Sans"/>
              </a:rPr>
              <a:t>WEARABLE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5386" y="3600747"/>
            <a:ext cx="2257127" cy="2762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1E293B"/>
                </a:solidFill>
                <a:latin typeface="IBM Plex Sans"/>
              </a:rPr>
              <a:t>Real-Time Health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2673" y="4040088"/>
            <a:ext cx="2414795" cy="841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64748B"/>
                </a:solidFill>
                <a:latin typeface="IBM Plex Sans"/>
              </a:rPr>
              <a:t>Apple Watch, Oura Ring, and Whoop provide 24/7 biometric data making dynamic underwriting technically feasible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2550" y="2343150"/>
            <a:ext cx="2886075" cy="38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5775" y="2057400"/>
            <a:ext cx="3609975" cy="35909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77594" y="2572047"/>
            <a:ext cx="1636514" cy="6858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EA580C"/>
                </a:solidFill>
                <a:latin typeface="IBM Plex Sans"/>
              </a:rPr>
              <a:t>$746B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275" y="3257847"/>
            <a:ext cx="1403151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4748B"/>
                </a:solidFill>
                <a:latin typeface="IBM Plex Sans"/>
              </a:rPr>
              <a:t>2026 MARKET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5314" y="3600747"/>
            <a:ext cx="1921222" cy="2762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1E293B"/>
                </a:solidFill>
                <a:latin typeface="IBM Plex Sans"/>
              </a:rPr>
              <a:t>Longevity Economy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1476" y="4040088"/>
            <a:ext cx="2441138" cy="841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64748B"/>
                </a:solidFill>
                <a:latin typeface="IBM Plex Sans"/>
              </a:rPr>
              <a:t>Growing at </a:t>
            </a:r>
            <a:r>
              <a:rPr sz="1139" b="1" i="0">
                <a:solidFill>
                  <a:srgbClr val="EA580C"/>
                </a:solidFill>
                <a:latin typeface="IBM Plex Sans"/>
              </a:rPr>
              <a:t> 8.6% CAGR</a:t>
            </a:r>
            <a:r>
              <a:rPr sz="1139" b="0" i="0">
                <a:solidFill>
                  <a:srgbClr val="64748B"/>
                </a:solidFill>
                <a:latin typeface="IBM Plex Sans"/>
              </a:rPr>
              <a:t> through 2036. Consumers want to "stay younger" longer - BioAge is the most compelling health metric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7725" y="2343150"/>
            <a:ext cx="2886075" cy="381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1425" y="2057400"/>
            <a:ext cx="3609975" cy="35909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18066" y="2572047"/>
            <a:ext cx="1159668" cy="6858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6366F1"/>
                </a:solidFill>
                <a:latin typeface="IBM Plex Sans"/>
              </a:rPr>
              <a:t>86%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5185" y="3257847"/>
            <a:ext cx="1545282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4748B"/>
                </a:solidFill>
                <a:latin typeface="IBM Plex Sans"/>
              </a:rPr>
              <a:t>MILLENNIALS 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4821" y="3600747"/>
            <a:ext cx="2126009" cy="2762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1E293B"/>
                </a:solidFill>
                <a:latin typeface="IBM Plex Sans"/>
              </a:rPr>
              <a:t>Health-Based Pricing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893" y="4040088"/>
            <a:ext cx="2280255" cy="6247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64748B"/>
                </a:solidFill>
                <a:latin typeface="IBM Plex Sans"/>
              </a:rPr>
              <a:t>Open to health-based insurance pricing with </a:t>
            </a:r>
            <a:r>
              <a:rPr sz="1139" b="1" i="0">
                <a:solidFill>
                  <a:srgbClr val="EA580C"/>
                </a:solidFill>
                <a:latin typeface="IBM Plex Sans"/>
              </a:rPr>
              <a:t> 19.5% YoY</a:t>
            </a:r>
            <a:r>
              <a:rPr sz="1139" b="0" i="0">
                <a:solidFill>
                  <a:srgbClr val="64748B"/>
                </a:solidFill>
                <a:latin typeface="IBM Plex Sans"/>
              </a:rPr>
              <a:t> InsurTech funding growth in 2025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3375" y="2343150"/>
            <a:ext cx="2886075" cy="381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6048375"/>
            <a:ext cx="11430000" cy="5048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340471" y="6210300"/>
            <a:ext cx="7511057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E293B"/>
                </a:solidFill>
                <a:latin typeface="IBM Plex Sans"/>
              </a:rPr>
              <a:t>Major insurers already partnering with wearables: Essence Healthcare offering free Oura Rings to Medicare members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04800"/>
            <a:ext cx="7007274" cy="514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3B82F6"/>
                </a:solidFill>
                <a:latin typeface="Inter"/>
              </a:rPr>
              <a:t>Our Story: Why BioAge Life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52427" y="2827883"/>
            <a:ext cx="6820346" cy="20306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1E293B"/>
                </a:solidFill>
                <a:latin typeface="Inter"/>
              </a:rPr>
              <a:t>"We saw brilliant, health-conscious professionals paying the same insurance premiums as their unhealthy peers. Traditional actuarial models were punishing discipline instead of rewarding it. We knew technology could fix this broken system."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6337" y="5218509"/>
            <a:ext cx="2219325" cy="2000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3B82F6"/>
                </a:solidFill>
                <a:latin typeface="Inter"/>
              </a:rPr>
              <a:t>BioAge Life Founding Team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76800" cy="38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6819900"/>
            <a:ext cx="4267200" cy="38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0" y="2028825"/>
            <a:ext cx="457200" cy="523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57675" y="5456634"/>
            <a:ext cx="3676501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E293B"/>
                </a:solidFill>
                <a:latin typeface="Inter"/>
              </a:rPr>
              <a:t>Insurance, Data Science &amp; Health Technology Experts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209550"/>
            <a:ext cx="8637686" cy="495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24" b="1" i="0">
                <a:solidFill>
                  <a:srgbClr val="3B82F6"/>
                </a:solidFill>
                <a:latin typeface="IBM Plex Sans"/>
              </a:rPr>
              <a:t>Our Solution: BioAge Life Dynamic Underwriting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562225"/>
            <a:ext cx="5010150" cy="1285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625" y="3905250"/>
            <a:ext cx="5010150" cy="781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550" y="4105275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7800" y="4200525"/>
            <a:ext cx="19050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625" y="4829175"/>
            <a:ext cx="5010150" cy="781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550" y="5029200"/>
            <a:ext cx="3810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5900" y="5114925"/>
            <a:ext cx="1143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625" y="5753100"/>
            <a:ext cx="5010150" cy="7810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2550" y="5953125"/>
            <a:ext cx="38100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4129" y="2600325"/>
            <a:ext cx="5695950" cy="393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00879" y="3914775"/>
            <a:ext cx="1352550" cy="4095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05829" y="3914775"/>
            <a:ext cx="1352550" cy="4095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10779" y="3914775"/>
            <a:ext cx="1352550" cy="4095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00879" y="4552950"/>
            <a:ext cx="4362450" cy="1238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72329" y="5314950"/>
            <a:ext cx="4019550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57249" y="917971"/>
            <a:ext cx="10464871" cy="12648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 dirty="0">
                <a:solidFill>
                  <a:srgbClr val="1E293B"/>
                </a:solidFill>
                <a:latin typeface="IBM Plex Sans"/>
              </a:rPr>
              <a:t>We replace chronological age with biological age using real-time biomarkers to create fair, incentivized insurance pricing.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6360" y="2814042"/>
            <a:ext cx="1151780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4748B"/>
                </a:solidFill>
                <a:latin typeface="IBM Plex Sans"/>
              </a:rPr>
              <a:t>CORE FORMULA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2442" y="3080742"/>
            <a:ext cx="3839616" cy="2476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3B82F6"/>
                </a:solidFill>
                <a:latin typeface="Courier New"/>
              </a:rPr>
              <a:t>BA = CA + ΔHRV + ΔVO₂ + ΔSleep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10332" y="3404592"/>
            <a:ext cx="3303984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748B"/>
                </a:solidFill>
                <a:latin typeface="IBM Plex Sans"/>
              </a:rPr>
              <a:t>Biological Age calculated from continuous health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5950" y="4072830"/>
            <a:ext cx="1744116" cy="2190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E293B"/>
                </a:solidFill>
                <a:latin typeface="IBM Plex Sans"/>
              </a:rPr>
              <a:t>Real-Time Biomarkers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5950" y="4330005"/>
            <a:ext cx="2251025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748B"/>
                </a:solidFill>
                <a:latin typeface="IBM Plex Sans"/>
              </a:rPr>
              <a:t>HRV, VO₂ Max, Sleep from wearables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5950" y="4998243"/>
            <a:ext cx="1950839" cy="2190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E293B"/>
                </a:solidFill>
                <a:latin typeface="IBM Plex Sans"/>
              </a:rPr>
              <a:t>Dynamic Monthly Pricing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5950" y="5255418"/>
            <a:ext cx="2107852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748B"/>
                </a:solidFill>
                <a:latin typeface="IBM Plex Sans"/>
              </a:rPr>
              <a:t>Premiums adjust based on biology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5950" y="5923657"/>
            <a:ext cx="1714946" cy="2190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E293B"/>
                </a:solidFill>
                <a:latin typeface="IBM Plex Sans"/>
              </a:rPr>
              <a:t>Behavioral Incentives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5950" y="6180832"/>
            <a:ext cx="2458789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748B"/>
                </a:solidFill>
                <a:latin typeface="IBM Plex Sans"/>
              </a:rPr>
              <a:t>Gamification drives health improvement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9236" y="3192958"/>
            <a:ext cx="2065734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E293B"/>
                </a:solidFill>
                <a:latin typeface="IBM Plex Sans"/>
              </a:rPr>
              <a:t>Live Calculation 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4073" y="3678733"/>
            <a:ext cx="246012" cy="1619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64748B"/>
                </a:solidFill>
                <a:latin typeface="IBM Plex Sans"/>
              </a:rPr>
              <a:t>HRV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79807" y="4002583"/>
            <a:ext cx="394543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059669"/>
                </a:solidFill>
                <a:latin typeface="IBM Plex Sans"/>
              </a:rP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6417" y="3678733"/>
            <a:ext cx="511373" cy="1619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64748B"/>
                </a:solidFill>
                <a:latin typeface="IBM Plex Sans"/>
              </a:rPr>
              <a:t>VO₂ MAX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72417" y="4002583"/>
            <a:ext cx="219372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EA580C"/>
                </a:solidFill>
                <a:latin typeface="IBM Plex Sans"/>
              </a:rPr>
              <a:t>54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89831" y="3678733"/>
            <a:ext cx="794444" cy="1619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64748B"/>
                </a:solidFill>
                <a:latin typeface="IBM Plex Sans"/>
              </a:rPr>
              <a:t>SLEEP SCORE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77367" y="4002583"/>
            <a:ext cx="219372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6366F1"/>
                </a:solidFill>
                <a:latin typeface="IBM Plex Sans"/>
              </a:rPr>
              <a:t>85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72329" y="4745533"/>
            <a:ext cx="1209526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64748B"/>
                </a:solidFill>
                <a:latin typeface="IBM Plex Sans"/>
              </a:rPr>
              <a:t>Chronological Age: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21259" y="4726483"/>
            <a:ext cx="670619" cy="2190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3B82F6"/>
                </a:solidFill>
                <a:latin typeface="IBM Plex Sans"/>
              </a:rPr>
              <a:t>45 years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72329" y="5040808"/>
            <a:ext cx="955476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64748B"/>
                </a:solidFill>
                <a:latin typeface="IBM Plex Sans"/>
              </a:rPr>
              <a:t>Biological Age: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21259" y="5021758"/>
            <a:ext cx="670619" cy="2190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59669"/>
                </a:solidFill>
                <a:latin typeface="IBM Plex Sans"/>
              </a:rPr>
              <a:t>32 years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72329" y="5421808"/>
            <a:ext cx="1183332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64748B"/>
                </a:solidFill>
                <a:latin typeface="IBM Plex Sans"/>
              </a:rPr>
              <a:t>Monthly Premium: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54782" y="5402758"/>
            <a:ext cx="1537096" cy="2190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3B82F6"/>
                </a:solidFill>
                <a:latin typeface="IBM Plex Sans"/>
              </a:rPr>
              <a:t>$71 (20% discount)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42900"/>
            <a:ext cx="8027044" cy="552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3B82F6"/>
                </a:solidFill>
                <a:latin typeface="IBM Plex Sans"/>
              </a:rPr>
              <a:t>Case Study: Real User Impact &amp; Savings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92385"/>
            <a:ext cx="2249685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FAIR PRICING BASED ON BIOLOGICAL 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5710" y="662731"/>
            <a:ext cx="984795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4748B"/>
                </a:solidFill>
                <a:latin typeface="IBM Plex Sans"/>
              </a:rPr>
              <a:t>TRADITIONAL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1011" y="830460"/>
            <a:ext cx="1543794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293B"/>
                </a:solidFill>
                <a:latin typeface="IBM Plex Sans"/>
              </a:rPr>
              <a:t>Age-Based</a:t>
            </a:r>
            <a:r>
              <a:rPr sz="900" b="0" i="0">
                <a:solidFill>
                  <a:srgbClr val="64748B"/>
                </a:solidFill>
                <a:latin typeface="IBM Plex Sans"/>
              </a:rPr>
              <a:t>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6080" y="662731"/>
            <a:ext cx="708719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4748B"/>
                </a:solidFill>
                <a:latin typeface="IBM Plex Sans"/>
              </a:rPr>
              <a:t>BIOAGE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7230" y="830460"/>
            <a:ext cx="1381869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59669"/>
                </a:solidFill>
                <a:latin typeface="IBM Plex Sans"/>
              </a:rPr>
              <a:t>Health</a:t>
            </a:r>
            <a:r>
              <a:rPr sz="900" b="0" i="0">
                <a:solidFill>
                  <a:srgbClr val="64748B"/>
                </a:solidFill>
                <a:latin typeface="IBM Plex Sans"/>
              </a:rPr>
              <a:t> Optimized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0"/>
            <a:ext cx="3657600" cy="38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6819900"/>
            <a:ext cx="4267200" cy="38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9850" y="723900"/>
            <a:ext cx="9525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1362075"/>
            <a:ext cx="3733800" cy="53244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6075" y="1685925"/>
            <a:ext cx="87630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43100" y="2009775"/>
            <a:ext cx="533400" cy="533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24075" y="2171700"/>
            <a:ext cx="17145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" y="3352800"/>
            <a:ext cx="3105150" cy="5429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" y="3962400"/>
            <a:ext cx="3105150" cy="5429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" y="4572000"/>
            <a:ext cx="3105150" cy="5429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225" y="5705475"/>
            <a:ext cx="3105150" cy="6477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7225" y="1721941"/>
            <a:ext cx="590847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059669"/>
                </a:solidFill>
                <a:latin typeface="IBM Plex Sans"/>
              </a:rPr>
              <a:t>OPTIMIZED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65251" y="1718071"/>
            <a:ext cx="720923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4748B"/>
                </a:solidFill>
                <a:latin typeface="IBM Plex Sans"/>
              </a:rPr>
              <a:t>45 </a:t>
            </a:r>
            <a:r>
              <a:rPr sz="780" b="0" i="0">
                <a:solidFill>
                  <a:srgbClr val="64748B"/>
                </a:solidFill>
                <a:latin typeface="Cambria Math"/>
              </a:rPr>
              <a:t>→ </a:t>
            </a:r>
            <a:r>
              <a:rPr sz="780" b="0" i="0">
                <a:solidFill>
                  <a:srgbClr val="64748B"/>
                </a:solidFill>
                <a:latin typeface="IBM Plex Sans"/>
              </a:rPr>
              <a:t>32 BioAge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41760" y="2640062"/>
            <a:ext cx="536078" cy="3333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E293B"/>
                </a:solidFill>
                <a:latin typeface="IBM Plex Sans"/>
              </a:rPr>
              <a:t>Alex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93676" y="3037284"/>
            <a:ext cx="832246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Athlete Lifestyle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" y="3595389"/>
            <a:ext cx="717649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HRV/VO2 Max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7157" y="3462039"/>
            <a:ext cx="670917" cy="3048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8" b="1" i="0">
                <a:solidFill>
                  <a:srgbClr val="1E293B"/>
                </a:solidFill>
                <a:latin typeface="IBM Plex Sans"/>
              </a:rPr>
              <a:t>85/54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" y="4206329"/>
            <a:ext cx="607665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Sleep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66492" y="4072979"/>
            <a:ext cx="281582" cy="3048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8" b="1" i="0">
                <a:solidFill>
                  <a:srgbClr val="1E293B"/>
                </a:solidFill>
                <a:latin typeface="IBM Plex Sans"/>
              </a:rPr>
              <a:t>92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" y="4817268"/>
            <a:ext cx="906065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Monthly Premium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71341" y="4683918"/>
            <a:ext cx="776733" cy="3048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8" b="1" i="0">
                <a:solidFill>
                  <a:srgbClr val="1E293B"/>
                </a:solidFill>
                <a:latin typeface="IBM Plex Sans"/>
              </a:rPr>
              <a:t>$71.10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5162" y="5854005"/>
            <a:ext cx="1349275" cy="2762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059669"/>
                </a:solidFill>
                <a:latin typeface="IBM Plex Sans"/>
              </a:rPr>
              <a:t>Saves $18.90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91146" y="6202709"/>
            <a:ext cx="837158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64748B"/>
                </a:solidFill>
                <a:latin typeface="IBM Plex Sans"/>
              </a:rPr>
              <a:t>VS TRADITIONAL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1362075"/>
            <a:ext cx="3733800" cy="53244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2275" y="1685925"/>
            <a:ext cx="876300" cy="2095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9300" y="2009775"/>
            <a:ext cx="533400" cy="533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00750" y="2171700"/>
            <a:ext cx="190500" cy="20002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43425" y="3352800"/>
            <a:ext cx="3105150" cy="54292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43425" y="3962400"/>
            <a:ext cx="3105150" cy="54292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43425" y="4572000"/>
            <a:ext cx="3105150" cy="54292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43425" y="5705475"/>
            <a:ext cx="3105150" cy="6477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543425" y="1721941"/>
            <a:ext cx="632519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EA580C"/>
                </a:solidFill>
                <a:latin typeface="IBM Plex Sans"/>
              </a:rPr>
              <a:t>PREMATURE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1451" y="1718071"/>
            <a:ext cx="720923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4748B"/>
                </a:solidFill>
                <a:latin typeface="IBM Plex Sans"/>
              </a:rPr>
              <a:t>30 </a:t>
            </a:r>
            <a:r>
              <a:rPr sz="780" b="0" i="0">
                <a:solidFill>
                  <a:srgbClr val="64748B"/>
                </a:solidFill>
                <a:latin typeface="Cambria Math"/>
              </a:rPr>
              <a:t>→ </a:t>
            </a:r>
            <a:r>
              <a:rPr sz="780" b="0" i="0">
                <a:solidFill>
                  <a:srgbClr val="64748B"/>
                </a:solidFill>
                <a:latin typeface="IBM Plex Sans"/>
              </a:rPr>
              <a:t>38 BioAge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74072" y="2640062"/>
            <a:ext cx="843855" cy="3333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E293B"/>
                </a:solidFill>
                <a:latin typeface="IBM Plex Sans"/>
              </a:rPr>
              <a:t>Jordan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74221" y="3037284"/>
            <a:ext cx="843557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Executive Stress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86300" y="3595389"/>
            <a:ext cx="717649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HRV/VO2 Max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63357" y="3462039"/>
            <a:ext cx="670917" cy="3048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8" b="1" i="0">
                <a:solidFill>
                  <a:srgbClr val="1E293B"/>
                </a:solidFill>
                <a:latin typeface="IBM Plex Sans"/>
              </a:rPr>
              <a:t>30/32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6300" y="4206329"/>
            <a:ext cx="607665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Sleep Score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52692" y="4072979"/>
            <a:ext cx="281582" cy="3048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8" b="1" i="0">
                <a:solidFill>
                  <a:srgbClr val="1E293B"/>
                </a:solidFill>
                <a:latin typeface="IBM Plex Sans"/>
              </a:rPr>
              <a:t>55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6300" y="4817268"/>
            <a:ext cx="906065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Monthly Premium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57541" y="4683918"/>
            <a:ext cx="776733" cy="3048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8" b="1" i="0">
                <a:solidFill>
                  <a:srgbClr val="1E293B"/>
                </a:solidFill>
                <a:latin typeface="IBM Plex Sans"/>
              </a:rPr>
              <a:t>$95.40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78834" y="5854005"/>
            <a:ext cx="834181" cy="2762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EA580C"/>
                </a:solidFill>
                <a:latin typeface="IBM Plex Sans"/>
              </a:rPr>
              <a:t>+$35.40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8977" y="6202709"/>
            <a:ext cx="934045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64748B"/>
                </a:solidFill>
                <a:latin typeface="IBM Plex Sans"/>
              </a:rPr>
              <a:t>FAIR HEALTH COST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15300" y="1362075"/>
            <a:ext cx="3733800" cy="5324475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58475" y="1685925"/>
            <a:ext cx="876300" cy="20955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5500" y="2009775"/>
            <a:ext cx="533400" cy="53340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86950" y="2171700"/>
            <a:ext cx="190500" cy="200025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29625" y="3352800"/>
            <a:ext cx="3105150" cy="542925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29625" y="3962400"/>
            <a:ext cx="3105150" cy="542925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29625" y="4572000"/>
            <a:ext cx="3105150" cy="542925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9625" y="5705475"/>
            <a:ext cx="3105150" cy="6477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429625" y="1721941"/>
            <a:ext cx="615850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6366F1"/>
                </a:solidFill>
                <a:latin typeface="IBM Plex Sans"/>
              </a:rPr>
              <a:t>IMPROVING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37651" y="1718071"/>
            <a:ext cx="720923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4748B"/>
                </a:solidFill>
                <a:latin typeface="IBM Plex Sans"/>
              </a:rPr>
              <a:t>55 </a:t>
            </a:r>
            <a:r>
              <a:rPr sz="780" b="0" i="0">
                <a:solidFill>
                  <a:srgbClr val="64748B"/>
                </a:solidFill>
                <a:latin typeface="Cambria Math"/>
              </a:rPr>
              <a:t>→ </a:t>
            </a:r>
            <a:r>
              <a:rPr sz="780" b="0" i="0">
                <a:solidFill>
                  <a:srgbClr val="64748B"/>
                </a:solidFill>
                <a:latin typeface="IBM Plex Sans"/>
              </a:rPr>
              <a:t>50 BioAge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30370" y="2640062"/>
            <a:ext cx="703510" cy="3333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E293B"/>
                </a:solidFill>
                <a:latin typeface="IBM Plex Sans"/>
              </a:rPr>
              <a:t>Sarah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91972" y="3037284"/>
            <a:ext cx="780454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Health Journey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72500" y="3595389"/>
            <a:ext cx="717649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HRV/VO2 Max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49557" y="3462039"/>
            <a:ext cx="670917" cy="3048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8" b="1" i="0">
                <a:solidFill>
                  <a:srgbClr val="1E293B"/>
                </a:solidFill>
                <a:latin typeface="IBM Plex Sans"/>
              </a:rPr>
              <a:t>62/45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72500" y="4206329"/>
            <a:ext cx="607665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Sleep Score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138892" y="4072979"/>
            <a:ext cx="281582" cy="3048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8" b="1" i="0">
                <a:solidFill>
                  <a:srgbClr val="1E293B"/>
                </a:solidFill>
                <a:latin typeface="IBM Plex Sans"/>
              </a:rPr>
              <a:t>81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72500" y="4817268"/>
            <a:ext cx="906065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Monthly Premium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03098" y="4683918"/>
            <a:ext cx="917376" cy="3048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8" b="1" i="0">
                <a:solidFill>
                  <a:srgbClr val="1E293B"/>
                </a:solidFill>
                <a:latin typeface="IBM Plex Sans"/>
              </a:rPr>
              <a:t>$138.20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76469" y="5854005"/>
            <a:ext cx="1211460" cy="2762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6366F1"/>
                </a:solidFill>
                <a:latin typeface="IBM Plex Sans"/>
              </a:rPr>
              <a:t>Opportunity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79607" y="6202709"/>
            <a:ext cx="1005185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64748B"/>
                </a:solidFill>
                <a:latin typeface="IBM Plex Sans"/>
              </a:rPr>
              <a:t>IMPROVING HEALTH</a:t>
            </a:r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29075" y="3914775"/>
            <a:ext cx="123825" cy="200025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5275" y="3914775"/>
            <a:ext cx="1238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209550"/>
            <a:ext cx="7750224" cy="495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24" b="1" i="0">
                <a:solidFill>
                  <a:srgbClr val="3B82F6"/>
                </a:solidFill>
                <a:latin typeface="IBM Plex Sans"/>
              </a:rPr>
              <a:t>Business Model: Multiple Revenue Streams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475" y="1066800"/>
            <a:ext cx="3343275" cy="54197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5325" y="1895475"/>
            <a:ext cx="2695575" cy="904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5325" y="2952750"/>
            <a:ext cx="2695575" cy="904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5325" y="4010025"/>
            <a:ext cx="2695575" cy="904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5325" y="5067300"/>
            <a:ext cx="2695575" cy="10953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36967" y="1389459"/>
            <a:ext cx="1655266" cy="2762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3B82F6"/>
                </a:solidFill>
                <a:latin typeface="IBM Plex Sans"/>
              </a:rPr>
              <a:t>Revenue Targets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87482" y="2056209"/>
            <a:ext cx="554087" cy="3619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 dirty="0">
                <a:solidFill>
                  <a:srgbClr val="059669"/>
                </a:solidFill>
                <a:latin typeface="IBM Plex Sans"/>
              </a:rPr>
              <a:t>$</a:t>
            </a:r>
            <a:r>
              <a:rPr lang="en-US" sz="2160" b="1" i="0" dirty="0">
                <a:solidFill>
                  <a:srgbClr val="059669"/>
                </a:solidFill>
                <a:latin typeface="IBM Plex Sans"/>
              </a:rPr>
              <a:t>10</a:t>
            </a:r>
            <a:r>
              <a:rPr sz="2160" b="1" i="0" dirty="0">
                <a:solidFill>
                  <a:srgbClr val="059669"/>
                </a:solidFill>
                <a:latin typeface="IBM Plex Sans"/>
              </a:rP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2460" y="2456259"/>
            <a:ext cx="904279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64748B"/>
                </a:solidFill>
                <a:latin typeface="IBM Plex Sans"/>
              </a:rPr>
              <a:t>ARR by Year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2147" y="3113484"/>
            <a:ext cx="684758" cy="3619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059669"/>
                </a:solidFill>
                <a:latin typeface="IBM Plex Sans"/>
              </a:rPr>
              <a:t>10K+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2318" y="3513534"/>
            <a:ext cx="804416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64748B"/>
                </a:solidFill>
                <a:latin typeface="IBM Plex Sans"/>
              </a:rPr>
              <a:t>Target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4632" y="4170759"/>
            <a:ext cx="439787" cy="3619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059669"/>
                </a:solidFill>
                <a:latin typeface="IBM Plex Sans"/>
              </a:rPr>
              <a:t>2-3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337" y="4570809"/>
            <a:ext cx="1736526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64748B"/>
                </a:solidFill>
                <a:latin typeface="IBM Plex Sans"/>
              </a:rPr>
              <a:t>Major Insurer Partnerships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1154" y="5228034"/>
            <a:ext cx="2355324" cy="75693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E293B"/>
                </a:solidFill>
                <a:latin typeface="IBM Plex Sans"/>
              </a:rPr>
              <a:t>Risk-based pricing advantage using biological age vs chronological age creates </a:t>
            </a:r>
            <a:r>
              <a:rPr sz="1080" b="1" i="0">
                <a:solidFill>
                  <a:srgbClr val="059669"/>
                </a:solidFill>
                <a:latin typeface="IBM Plex Sans"/>
              </a:rPr>
              <a:t> sustainable competitive moat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" y="1476375"/>
            <a:ext cx="3914775" cy="26098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04900" y="1933723"/>
            <a:ext cx="828377" cy="495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59669"/>
                </a:solidFill>
                <a:latin typeface="IBM Plex Sans"/>
              </a:rPr>
              <a:t>85%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900" y="2438548"/>
            <a:ext cx="1436191" cy="2190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E293B"/>
                </a:solidFill>
                <a:latin typeface="IBM Plex Sans"/>
              </a:rPr>
              <a:t>Premium Revenue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" y="2780109"/>
            <a:ext cx="2705070" cy="37296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748B"/>
                </a:solidFill>
                <a:latin typeface="IBM Plex Sans"/>
              </a:rPr>
              <a:t>Monthly insurance premiums with dynamic pricing advantage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" y="3240285"/>
            <a:ext cx="890289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E293B"/>
                </a:solidFill>
                <a:latin typeface="IBM Plex Sans"/>
              </a:rPr>
              <a:t>(avg $95/user)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1762125"/>
            <a:ext cx="3190875" cy="381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1925" y="1476375"/>
            <a:ext cx="3914775" cy="26098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59200" y="1933723"/>
            <a:ext cx="828377" cy="495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A580C"/>
                </a:solidFill>
                <a:latin typeface="IBM Plex Sans"/>
              </a:rPr>
              <a:t>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9200" y="2438548"/>
            <a:ext cx="1671191" cy="2190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E293B"/>
                </a:solidFill>
                <a:latin typeface="IBM Plex Sans"/>
              </a:rPr>
              <a:t>Technology Licensing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9200" y="2780109"/>
            <a:ext cx="2671881" cy="37296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748B"/>
                </a:solidFill>
                <a:latin typeface="IBM Plex Sans"/>
              </a:rPr>
              <a:t>License proprietary underwriting engine to traditional insurers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9200" y="3240285"/>
            <a:ext cx="1061591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E293B"/>
                </a:solidFill>
                <a:latin typeface="IBM Plex Sans"/>
              </a:rPr>
              <a:t>B2B partnerships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3875" y="1762125"/>
            <a:ext cx="3190875" cy="381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" y="3619500"/>
            <a:ext cx="3914775" cy="26098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04900" y="4078485"/>
            <a:ext cx="599777" cy="495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6366F1"/>
                </a:solidFill>
                <a:latin typeface="IBM Plex Sans"/>
              </a:rPr>
              <a:t>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4900" y="4583310"/>
            <a:ext cx="1474291" cy="2190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E293B"/>
                </a:solidFill>
                <a:latin typeface="IBM Plex Sans"/>
              </a:rPr>
              <a:t>Wellness Affiliates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4900" y="4924871"/>
            <a:ext cx="2596574" cy="37296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748B"/>
                </a:solidFill>
                <a:latin typeface="IBM Plex Sans"/>
              </a:rPr>
              <a:t>Partner revenue from health optimization products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4900" y="5385048"/>
            <a:ext cx="1361479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E293B"/>
                </a:solidFill>
                <a:latin typeface="IBM Plex Sans"/>
              </a:rPr>
              <a:t>Strategic partnerships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6300" y="3905250"/>
            <a:ext cx="3190875" cy="381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1925" y="3619500"/>
            <a:ext cx="3914775" cy="26098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559200" y="4078485"/>
            <a:ext cx="599777" cy="495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B82F6"/>
                </a:solidFill>
                <a:latin typeface="IBM Plex Sans"/>
              </a:rPr>
              <a:t>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9200" y="4583310"/>
            <a:ext cx="1055935" cy="2190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E293B"/>
                </a:solidFill>
                <a:latin typeface="IBM Plex Sans"/>
              </a:rPr>
              <a:t>Data Insights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59200" y="4924871"/>
            <a:ext cx="2082671" cy="37296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748B"/>
                </a:solidFill>
                <a:latin typeface="IBM Plex Sans"/>
              </a:rPr>
              <a:t>Anonymized longevity insights to pharma/research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59200" y="5385048"/>
            <a:ext cx="960387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E293B"/>
                </a:solidFill>
                <a:latin typeface="IBM Plex Sans"/>
              </a:rPr>
              <a:t>Optional upside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33875" y="3905250"/>
            <a:ext cx="3190875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4961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152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7900" y="876300"/>
            <a:ext cx="133350" cy="133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857500"/>
            <a:ext cx="5410200" cy="3886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2857500"/>
            <a:ext cx="5410200" cy="3886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4175" y="3067050"/>
            <a:ext cx="8763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6419850"/>
            <a:ext cx="76200" cy="76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0" y="6419850"/>
            <a:ext cx="76200" cy="76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304800"/>
            <a:ext cx="1492597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9669"/>
                </a:solidFill>
                <a:latin typeface="IBM Plex Sans"/>
              </a:rPr>
              <a:t>REVENUE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23875"/>
            <a:ext cx="7413426" cy="552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59" b="0" i="0">
                <a:solidFill>
                  <a:srgbClr val="1E293B"/>
                </a:solidFill>
                <a:latin typeface="IBM Plex Sans"/>
              </a:rPr>
              <a:t>Business Model &amp; Revenue Projections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74473" y="859780"/>
            <a:ext cx="1546026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IBM Plex Sans"/>
              </a:rPr>
              <a:t>B2B2C Partnership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3069580"/>
            <a:ext cx="2230189" cy="2190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E293B"/>
                </a:solidFill>
                <a:latin typeface="IBM Plex Sans"/>
              </a:rPr>
              <a:t>Revenue Stream Breakdown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6819" y="6388000"/>
            <a:ext cx="1719560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Diversified B2B2C revenue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0325" y="3069580"/>
            <a:ext cx="2237779" cy="2190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E293B"/>
                </a:solidFill>
                <a:latin typeface="IBM Plex Sans"/>
              </a:rPr>
              <a:t>Market Penetration Timeline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19928" y="3109466"/>
            <a:ext cx="724346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59669"/>
                </a:solidFill>
                <a:latin typeface="IBM Plex Sans"/>
              </a:rPr>
              <a:t>Growth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0825" y="6388000"/>
            <a:ext cx="593675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Market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5412" y="6388000"/>
            <a:ext cx="658862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64748B"/>
                </a:solidFill>
                <a:latin typeface="IBM Plex Sans"/>
              </a:rPr>
              <a:t>Our Revenue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1333500"/>
            <a:ext cx="3533775" cy="1333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9625" y="1409700"/>
            <a:ext cx="1319361" cy="6667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32" b="1" i="0">
                <a:solidFill>
                  <a:srgbClr val="3B82F6"/>
                </a:solidFill>
                <a:latin typeface="IBM Plex Sans"/>
              </a:rPr>
              <a:t>2-3%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2093267"/>
            <a:ext cx="2053232" cy="40377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4748B"/>
                </a:solidFill>
                <a:latin typeface="IBM Plex Sans"/>
              </a:rPr>
              <a:t>Licensing fees from insurance carrier premiums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1025" y="1343025"/>
            <a:ext cx="38100" cy="1314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43250" y="1857375"/>
            <a:ext cx="762000" cy="609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33875" y="1333500"/>
            <a:ext cx="3533775" cy="1333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68874" y="1409700"/>
            <a:ext cx="2114550" cy="6667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32" b="1" i="0">
                <a:solidFill>
                  <a:srgbClr val="3B82F6"/>
                </a:solidFill>
                <a:latin typeface="IBM Plex Sans"/>
              </a:rPr>
              <a:t>$101.6M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8874" y="2093267"/>
            <a:ext cx="1881485" cy="40377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4748B"/>
                </a:solidFill>
                <a:latin typeface="IBM Plex Sans"/>
              </a:rPr>
              <a:t>Addressable market with 2% penetration target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43400" y="1343025"/>
            <a:ext cx="38100" cy="13144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58025" y="1857375"/>
            <a:ext cx="609600" cy="6096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86725" y="1333500"/>
            <a:ext cx="3533775" cy="1333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328124" y="1409700"/>
            <a:ext cx="1341387" cy="6667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32" b="1" i="0">
                <a:solidFill>
                  <a:srgbClr val="3B82F6"/>
                </a:solidFill>
                <a:latin typeface="IBM Plex Sans"/>
              </a:rPr>
              <a:t>$50M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8124" y="2093267"/>
            <a:ext cx="1894433" cy="40377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64748B"/>
                </a:solidFill>
                <a:latin typeface="IBM Plex Sans"/>
              </a:rPr>
              <a:t>Annual recurring revenue projection by 20</a:t>
            </a:r>
            <a:r>
              <a:rPr lang="en-US" sz="1200" b="1" i="0" dirty="0">
                <a:solidFill>
                  <a:srgbClr val="64748B"/>
                </a:solidFill>
                <a:latin typeface="IBM Plex Sans"/>
              </a:rPr>
              <a:t>30</a:t>
            </a:r>
            <a:endParaRPr sz="1200" b="1" i="0" dirty="0">
              <a:solidFill>
                <a:srgbClr val="64748B"/>
              </a:solidFill>
              <a:latin typeface="IBM Plex Sans"/>
            </a:endParaRP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6250" y="1343025"/>
            <a:ext cx="38100" cy="13144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01350" y="1847850"/>
            <a:ext cx="628650" cy="628650"/>
          </a:xfrm>
          <a:prstGeom prst="rect">
            <a:avLst/>
          </a:prstGeom>
        </p:spPr>
      </p:pic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771525" y="3454300"/>
          <a:ext cx="501015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10325" y="3454300"/>
            <a:ext cx="5010150" cy="28575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A24E3B4-044F-DD2C-D261-212BB71C015A}"/>
              </a:ext>
            </a:extLst>
          </p:cNvPr>
          <p:cNvSpPr txBox="1"/>
          <p:nvPr/>
        </p:nvSpPr>
        <p:spPr>
          <a:xfrm>
            <a:off x="10001250" y="6042570"/>
            <a:ext cx="714228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2030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3998E9-B4DB-DE3C-D560-9B84CFD09AE3}"/>
              </a:ext>
            </a:extLst>
          </p:cNvPr>
          <p:cNvSpPr txBox="1"/>
          <p:nvPr/>
        </p:nvSpPr>
        <p:spPr>
          <a:xfrm>
            <a:off x="9058422" y="6080223"/>
            <a:ext cx="714228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2029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896D6E-9700-BB90-7894-2600684A96D6}"/>
              </a:ext>
            </a:extLst>
          </p:cNvPr>
          <p:cNvSpPr txBox="1"/>
          <p:nvPr/>
        </p:nvSpPr>
        <p:spPr>
          <a:xfrm>
            <a:off x="8067968" y="6087286"/>
            <a:ext cx="714228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2028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2CDC50-F06E-29D3-1A85-C16D58A3E1DB}"/>
              </a:ext>
            </a:extLst>
          </p:cNvPr>
          <p:cNvSpPr txBox="1"/>
          <p:nvPr/>
        </p:nvSpPr>
        <p:spPr>
          <a:xfrm>
            <a:off x="7112791" y="6072869"/>
            <a:ext cx="714228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2027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775" y="1209675"/>
            <a:ext cx="4743450" cy="2590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250" y="1438275"/>
            <a:ext cx="952500" cy="952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100" y="1733550"/>
            <a:ext cx="304800" cy="276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775" y="1209675"/>
            <a:ext cx="4743450" cy="2590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0" y="1438275"/>
            <a:ext cx="952500" cy="952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9625" y="1733550"/>
            <a:ext cx="285750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775" y="4000500"/>
            <a:ext cx="4743450" cy="2590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3250" y="4229100"/>
            <a:ext cx="952500" cy="952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7575" y="4524375"/>
            <a:ext cx="333375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775" y="4000500"/>
            <a:ext cx="4743450" cy="2590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6250" y="4229100"/>
            <a:ext cx="952500" cy="952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9150" y="4524375"/>
            <a:ext cx="266700" cy="2762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70509" y="304800"/>
            <a:ext cx="7850832" cy="552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3B82F6"/>
                </a:solidFill>
                <a:latin typeface="IBM Plex Sans"/>
              </a:rPr>
              <a:t>Competitive Advantage &amp; IP Protection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5356" y="2395537"/>
            <a:ext cx="2008286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8" b="1" i="0">
                <a:solidFill>
                  <a:srgbClr val="3B82F6"/>
                </a:solidFill>
                <a:latin typeface="IBM Plex Sans"/>
              </a:rPr>
              <a:t>First-Mover Advantage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3857" y="2744688"/>
            <a:ext cx="4163675" cy="59590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64748B"/>
                </a:solidFill>
                <a:latin typeface="IBM Plex Sans"/>
              </a:rPr>
              <a:t>Pioneer in biological age insurance underwriting with established market position and early customer adoption in the longevity economy.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5624" y="2395537"/>
            <a:ext cx="2393602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8" b="1" i="0">
                <a:solidFill>
                  <a:srgbClr val="3B82F6"/>
                </a:solidFill>
                <a:latin typeface="IBM Plex Sans"/>
              </a:rPr>
              <a:t>Patent-Pending Algorithms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2142" y="2744688"/>
            <a:ext cx="3893105" cy="59590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64748B"/>
                </a:solidFill>
                <a:latin typeface="IBM Plex Sans"/>
              </a:rPr>
              <a:t>Proprietary actuarial formulas for biological age calculation and dynamic premium pricing with patent-pending methodology protection.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84201" y="5191125"/>
            <a:ext cx="2870448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8" b="1" i="0">
                <a:solidFill>
                  <a:srgbClr val="3B82F6"/>
                </a:solidFill>
                <a:latin typeface="IBM Plex Sans"/>
              </a:rPr>
              <a:t>Strategic Wearable Partnerships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76858" y="5540275"/>
            <a:ext cx="3757523" cy="59590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64748B"/>
                </a:solidFill>
                <a:latin typeface="IBM Plex Sans"/>
              </a:rPr>
              <a:t>Established integrations with Apple Watch and Oura Ring providing 24/7 biometric data access for continuous underwriting capabilities.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8803" y="5191125"/>
            <a:ext cx="2007393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8" b="1" i="0">
                <a:solidFill>
                  <a:srgbClr val="3B82F6"/>
                </a:solidFill>
                <a:latin typeface="IBM Plex Sans"/>
              </a:rPr>
              <a:t>Regulatory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1059" y="5540275"/>
            <a:ext cx="4075271" cy="59590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64748B"/>
                </a:solidFill>
                <a:latin typeface="IBM Plex Sans"/>
              </a:rPr>
              <a:t>Comprehensive compliance infrastructure and intellectual property protection strategy ensuring sustainable competitive moat.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87000" y="6819900"/>
            <a:ext cx="19050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61950"/>
            <a:ext cx="8686502" cy="514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 dirty="0">
                <a:solidFill>
                  <a:srgbClr val="3B82F6"/>
                </a:solidFill>
                <a:latin typeface="Inter"/>
              </a:rPr>
              <a:t>Why We Win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1152525"/>
            <a:ext cx="5305425" cy="5534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1257300"/>
            <a:ext cx="5057775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00" y="1495425"/>
            <a:ext cx="180975" cy="257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900" y="2209800"/>
            <a:ext cx="4600575" cy="685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7300" y="2352675"/>
            <a:ext cx="1143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900" y="3009900"/>
            <a:ext cx="4600575" cy="685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7300" y="3152775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4900" y="3810000"/>
            <a:ext cx="4600575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7775" y="3952875"/>
            <a:ext cx="1714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900" y="4381500"/>
            <a:ext cx="4600575" cy="685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7300" y="4524375"/>
            <a:ext cx="13335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8949" y="1478160"/>
            <a:ext cx="2419350" cy="2857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8" b="1" i="0">
                <a:solidFill>
                  <a:srgbClr val="3B82F6"/>
                </a:solidFill>
                <a:latin typeface="Inter"/>
              </a:rPr>
              <a:t>Traditional Insurance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7834" y="2344489"/>
            <a:ext cx="3902719" cy="4191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Inter"/>
              </a:rPr>
              <a:t>Static underwriting models based on historical data and demographics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6884" y="3144589"/>
            <a:ext cx="3354139" cy="4191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Inter"/>
              </a:rPr>
              <a:t>Annual policy reviews with limited customer touchpoints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5934" y="3944689"/>
            <a:ext cx="3611314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Inter"/>
              </a:rPr>
              <a:t>Reactive claims processing after incidents occur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6884" y="4516189"/>
            <a:ext cx="3390453" cy="4191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Inter"/>
              </a:rPr>
              <a:t>Age-based pricing that ignores actual health behaviors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100" y="1152525"/>
            <a:ext cx="5305425" cy="5534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57925" y="1257300"/>
            <a:ext cx="5057775" cy="7620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86525" y="1504950"/>
            <a:ext cx="238125" cy="2476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6525" y="2209800"/>
            <a:ext cx="4600575" cy="6858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38925" y="2352675"/>
            <a:ext cx="15240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6525" y="3009900"/>
            <a:ext cx="4600575" cy="6858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38925" y="3152775"/>
            <a:ext cx="114300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6525" y="3810000"/>
            <a:ext cx="4600575" cy="4572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38925" y="3952875"/>
            <a:ext cx="152400" cy="1619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6525" y="4381500"/>
            <a:ext cx="4600575" cy="4572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38925" y="4524375"/>
            <a:ext cx="152400" cy="152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97278" y="1478160"/>
            <a:ext cx="1292125" cy="2857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48" b="1" i="0">
                <a:solidFill>
                  <a:srgbClr val="64748B"/>
                </a:solidFill>
                <a:latin typeface="Inter"/>
              </a:rPr>
              <a:t>BioAge Life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5625" y="2344489"/>
            <a:ext cx="3912989" cy="4191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Inter"/>
              </a:rPr>
              <a:t>Real-time underwriting using continuous biomarker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67525" y="3144589"/>
            <a:ext cx="3791396" cy="4191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Inter"/>
              </a:rPr>
              <a:t>Continuous engagement through wearable device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5625" y="3944689"/>
            <a:ext cx="3939778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Inter"/>
              </a:rPr>
              <a:t>Behavior-driven risk reduction with health incentives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5625" y="4516189"/>
            <a:ext cx="3756124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Inter"/>
              </a:rPr>
              <a:t>Prevention-focused model that reduces loss ratios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828800" y="0"/>
            <a:ext cx="3657600" cy="381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315200" y="6819900"/>
            <a:ext cx="3048000" cy="381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657850" y="3495675"/>
            <a:ext cx="876300" cy="8763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989141" y="3806130"/>
            <a:ext cx="213568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Inter"/>
              </a:rPr>
              <a:t>VS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7950" y="1028700"/>
            <a:ext cx="952500" cy="952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533900"/>
            <a:ext cx="952500" cy="952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1000" y="209550"/>
            <a:ext cx="7386637" cy="495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24" b="1" i="0">
                <a:solidFill>
                  <a:srgbClr val="3B82F6"/>
                </a:solidFill>
                <a:latin typeface="IBM Plex Sans"/>
              </a:rPr>
              <a:t>Our Team: Why We're the Right Founders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1371600"/>
            <a:ext cx="5772150" cy="26765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900" y="1885950"/>
            <a:ext cx="533400" cy="533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6350" y="2038350"/>
            <a:ext cx="20002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4900" y="3133725"/>
            <a:ext cx="790575" cy="2381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71675" y="3133725"/>
            <a:ext cx="1209675" cy="2381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48025" y="3133725"/>
            <a:ext cx="1190625" cy="2381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90700" y="1923752"/>
            <a:ext cx="1088231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E293B"/>
                </a:solidFill>
                <a:latin typeface="IBM Plex Sans"/>
              </a:rPr>
              <a:t>Tzu-Ying Lee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0700" y="2199977"/>
            <a:ext cx="1189285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64748B"/>
                </a:solidFill>
                <a:latin typeface="IBM Plex Sans"/>
              </a:rPr>
              <a:t>CEO &amp; Co-Founder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" y="2580977"/>
            <a:ext cx="4124890" cy="3868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748B"/>
                </a:solidFill>
                <a:latin typeface="IBM Plex Sans"/>
              </a:rPr>
              <a:t>Insurance technology and risk management expertise with proven leadership in fintech innovation and actuarial science.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8725" y="3183135"/>
            <a:ext cx="539055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B82F6"/>
                </a:solidFill>
                <a:latin typeface="IBM Plex Sans"/>
              </a:rPr>
              <a:t>InsurTech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1630" y="3183135"/>
            <a:ext cx="957113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B82F6"/>
                </a:solidFill>
                <a:latin typeface="IBM Plex Sans"/>
              </a:rPr>
              <a:t>Risk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2594" y="3183135"/>
            <a:ext cx="938212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B82F6"/>
                </a:solidFill>
                <a:latin typeface="IBM Plex Sans"/>
              </a:rPr>
              <a:t>Actuarial Science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6300" y="1657350"/>
            <a:ext cx="5048250" cy="381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0" y="1371600"/>
            <a:ext cx="5772150" cy="26765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6050" y="1885950"/>
            <a:ext cx="533400" cy="533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48450" y="2038350"/>
            <a:ext cx="228600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96050" y="3133725"/>
            <a:ext cx="962025" cy="2381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24750" y="3133725"/>
            <a:ext cx="1362075" cy="2381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63025" y="3133725"/>
            <a:ext cx="1228725" cy="2381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181850" y="1923752"/>
            <a:ext cx="2376933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E293B"/>
                </a:solidFill>
                <a:latin typeface="IBM Plex Sans"/>
              </a:rPr>
              <a:t>Kwame Owusu Appiah Kubi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1850" y="2199977"/>
            <a:ext cx="858589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64748B"/>
                </a:solidFill>
                <a:latin typeface="IBM Plex Sans"/>
              </a:rPr>
              <a:t>VP Marketing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6050" y="2580977"/>
            <a:ext cx="4522856" cy="3868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748B"/>
                </a:solidFill>
                <a:latin typeface="IBM Plex Sans"/>
              </a:rPr>
              <a:t>Harvard Business School Strategic Leadership credentials with extensive microfinance and financial services experience.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9875" y="3183135"/>
            <a:ext cx="709017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B82F6"/>
                </a:solidFill>
                <a:latin typeface="IBM Plex Sans"/>
              </a:rPr>
              <a:t>Harvard MBA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52742" y="3183135"/>
            <a:ext cx="1109513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B82F6"/>
                </a:solidFill>
                <a:latin typeface="IBM Plex Sans"/>
              </a:rPr>
              <a:t>Strategic Leadership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6105" y="3183135"/>
            <a:ext cx="976461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B82F6"/>
                </a:solidFill>
                <a:latin typeface="IBM Plex Sans"/>
              </a:rPr>
              <a:t>Financial Services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67450" y="1657350"/>
            <a:ext cx="5048250" cy="381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3657600"/>
            <a:ext cx="5772150" cy="267652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04900" y="4171950"/>
            <a:ext cx="533400" cy="533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57300" y="4324350"/>
            <a:ext cx="228600" cy="2286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4900" y="5419725"/>
            <a:ext cx="1000125" cy="23812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81225" y="5419725"/>
            <a:ext cx="1266825" cy="23812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14725" y="5419725"/>
            <a:ext cx="1028700" cy="2381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790700" y="4211835"/>
            <a:ext cx="1845617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E293B"/>
                </a:solidFill>
                <a:latin typeface="IBM Plex Sans"/>
              </a:rPr>
              <a:t>Jehoshaphat T Abaya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90700" y="4488060"/>
            <a:ext cx="1568648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64748B"/>
                </a:solidFill>
                <a:latin typeface="IBM Plex Sans"/>
              </a:rPr>
              <a:t>Chief Technology Officer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4900" y="4869060"/>
            <a:ext cx="4596526" cy="3868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748B"/>
                </a:solidFill>
                <a:latin typeface="IBM Plex Sans"/>
              </a:rPr>
              <a:t>GSU, GT, MIT Professor in Health Informatics with extensive experience in Health Science and analytics.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8725" y="5471219"/>
            <a:ext cx="749647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B82F6"/>
                </a:solidFill>
                <a:latin typeface="IBM Plex Sans"/>
              </a:rPr>
              <a:t>MIT Professor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02222" y="5471219"/>
            <a:ext cx="1013668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B82F6"/>
                </a:solidFill>
                <a:latin typeface="IBM Plex Sans"/>
              </a:rPr>
              <a:t>Health Informatics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39740" y="5471219"/>
            <a:ext cx="779561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B82F6"/>
                </a:solidFill>
                <a:latin typeface="IBM Plex Sans"/>
              </a:rPr>
              <a:t>Data Analytics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76300" y="3943350"/>
            <a:ext cx="5048250" cy="381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0" y="3657600"/>
            <a:ext cx="5772150" cy="267652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96050" y="4171950"/>
            <a:ext cx="533400" cy="5334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638925" y="4314825"/>
            <a:ext cx="247650" cy="24765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96050" y="5419725"/>
            <a:ext cx="1095375" cy="238125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667625" y="5419725"/>
            <a:ext cx="657225" cy="23812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91525" y="5419725"/>
            <a:ext cx="590550" cy="23812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181850" y="4211835"/>
            <a:ext cx="2648694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E293B"/>
                </a:solidFill>
                <a:latin typeface="IBM Plex Sans"/>
              </a:rPr>
              <a:t>Kwame Adu &amp; Nicholas Odame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81850" y="4488060"/>
            <a:ext cx="1468933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64748B"/>
                </a:solidFill>
                <a:latin typeface="IBM Plex Sans"/>
              </a:rPr>
              <a:t>Technical Co-Founders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6050" y="4869060"/>
            <a:ext cx="4387274" cy="3868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748B"/>
                </a:solidFill>
                <a:latin typeface="IBM Plex Sans"/>
              </a:rPr>
              <a:t>Founders of Amazon and Tap2Pay, startup geniuses with experience in Gen A+ Tech solutions and AI for Good.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19875" y="5471219"/>
            <a:ext cx="846980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B82F6"/>
                </a:solidFill>
                <a:latin typeface="IBM Plex Sans"/>
              </a:rPr>
              <a:t>Amazon Alumni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90705" y="5471219"/>
            <a:ext cx="402580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B82F6"/>
                </a:solidFill>
                <a:latin typeface="IBM Plex Sans"/>
              </a:rPr>
              <a:t>Fintech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17135" y="5471219"/>
            <a:ext cx="334565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B82F6"/>
                </a:solidFill>
                <a:latin typeface="IBM Plex Sans"/>
              </a:rPr>
              <a:t>AI/ML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267450" y="3943350"/>
            <a:ext cx="5048250" cy="3810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81000" y="5991225"/>
            <a:ext cx="11430000" cy="561975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825079" y="6178004"/>
            <a:ext cx="8618041" cy="190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IBM Plex Sans"/>
              </a:rPr>
              <a:t>Combined expertise in </a:t>
            </a:r>
            <a:r>
              <a:rPr sz="1200" b="1" i="0">
                <a:solidFill>
                  <a:srgbClr val="059669"/>
                </a:solidFill>
                <a:latin typeface="IBM Plex Sans"/>
              </a:rPr>
              <a:t> insurance, technology, and health sciences</a:t>
            </a:r>
            <a:r>
              <a:rPr sz="1200" b="1" i="0">
                <a:solidFill>
                  <a:srgbClr val="1E293B"/>
                </a:solidFill>
                <a:latin typeface="IBM Plex Sans"/>
              </a:rPr>
              <a:t> - the perfect foundation for revolutionizing InsurTech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3840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BioAge Life</a:t>
            </a: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402336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733" b="0" i="1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Future of Insurance Is Personal</a:t>
            </a:r>
            <a:endParaRPr kumimoji="0" lang="en-US" sz="3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548640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ctr" defTabSz="1219170"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9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Live Demo: </a:t>
            </a:r>
            <a:r>
              <a:rPr lang="en-US" sz="24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https://jatphat.github.io/InsurTech/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46176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kumimoji="0" lang="en-US" sz="29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911</Words>
  <Application>Microsoft Office PowerPoint</Application>
  <PresentationFormat>Widescreen</PresentationFormat>
  <Paragraphs>198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 Math</vt:lpstr>
      <vt:lpstr>Courier New</vt:lpstr>
      <vt:lpstr>IBM Plex Sans</vt:lpstr>
      <vt:lpstr>Inter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 T</dc:creator>
  <cp:lastModifiedBy>J T</cp:lastModifiedBy>
  <cp:revision>1</cp:revision>
  <dcterms:created xsi:type="dcterms:W3CDTF">2026-04-10T00:04:24Z</dcterms:created>
  <dcterms:modified xsi:type="dcterms:W3CDTF">2026-04-17T02:17:21Z</dcterms:modified>
</cp:coreProperties>
</file>